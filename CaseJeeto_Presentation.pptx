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C67D12-F80D-4CF9-8199-67505C50E898}" v="8" dt="2026-09-01T12:32:37.4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54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yoti Tiwari" userId="8ab25d1fce0ba38d" providerId="LiveId" clId="{B0B1D75C-D98D-4066-9FE9-D2012CB63D17}"/>
    <pc:docChg chg="undo custSel addSld delSld modSld">
      <pc:chgData name="Jyoti Tiwari" userId="8ab25d1fce0ba38d" providerId="LiveId" clId="{B0B1D75C-D98D-4066-9FE9-D2012CB63D17}" dt="2026-09-01T12:36:22.302" v="657" actId="1076"/>
      <pc:docMkLst>
        <pc:docMk/>
      </pc:docMkLst>
      <pc:sldChg chg="addSp delSp modSp mod">
        <pc:chgData name="Jyoti Tiwari" userId="8ab25d1fce0ba38d" providerId="LiveId" clId="{B0B1D75C-D98D-4066-9FE9-D2012CB63D17}" dt="2026-09-01T12:36:22.302" v="657" actId="1076"/>
        <pc:sldMkLst>
          <pc:docMk/>
          <pc:sldMk cId="0" sldId="256"/>
        </pc:sldMkLst>
        <pc:spChg chg="mod">
          <ac:chgData name="Jyoti Tiwari" userId="8ab25d1fce0ba38d" providerId="LiveId" clId="{B0B1D75C-D98D-4066-9FE9-D2012CB63D17}" dt="2026-09-01T12:32:06.861" v="634" actId="10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Jyoti Tiwari" userId="8ab25d1fce0ba38d" providerId="LiveId" clId="{B0B1D75C-D98D-4066-9FE9-D2012CB63D17}" dt="2026-09-01T12:23:30.047" v="472" actId="1076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Jyoti Tiwari" userId="8ab25d1fce0ba38d" providerId="LiveId" clId="{B0B1D75C-D98D-4066-9FE9-D2012CB63D17}" dt="2026-09-01T12:21:58.883" v="401" actId="478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Jyoti Tiwari" userId="8ab25d1fce0ba38d" providerId="LiveId" clId="{B0B1D75C-D98D-4066-9FE9-D2012CB63D17}" dt="2026-09-01T12:22:06.206" v="403" actId="478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Jyoti Tiwari" userId="8ab25d1fce0ba38d" providerId="LiveId" clId="{B0B1D75C-D98D-4066-9FE9-D2012CB63D17}" dt="2026-09-01T12:25:34.863" v="582" actId="21"/>
          <ac:spMkLst>
            <pc:docMk/>
            <pc:sldMk cId="0" sldId="256"/>
            <ac:spMk id="9" creationId="{00000000-0000-0000-0000-000000000000}"/>
          </ac:spMkLst>
        </pc:spChg>
        <pc:spChg chg="mod">
          <ac:chgData name="Jyoti Tiwari" userId="8ab25d1fce0ba38d" providerId="LiveId" clId="{B0B1D75C-D98D-4066-9FE9-D2012CB63D17}" dt="2026-09-01T12:36:22.302" v="657" actId="1076"/>
          <ac:spMkLst>
            <pc:docMk/>
            <pc:sldMk cId="0" sldId="256"/>
            <ac:spMk id="10" creationId="{00000000-0000-0000-0000-000000000000}"/>
          </ac:spMkLst>
        </pc:spChg>
        <pc:spChg chg="del mod">
          <ac:chgData name="Jyoti Tiwari" userId="8ab25d1fce0ba38d" providerId="LiveId" clId="{B0B1D75C-D98D-4066-9FE9-D2012CB63D17}" dt="2026-09-01T12:22:20.204" v="452" actId="478"/>
          <ac:spMkLst>
            <pc:docMk/>
            <pc:sldMk cId="0" sldId="256"/>
            <ac:spMk id="11" creationId="{00000000-0000-0000-0000-000000000000}"/>
          </ac:spMkLst>
        </pc:spChg>
        <pc:spChg chg="del mod">
          <ac:chgData name="Jyoti Tiwari" userId="8ab25d1fce0ba38d" providerId="LiveId" clId="{B0B1D75C-D98D-4066-9FE9-D2012CB63D17}" dt="2026-09-01T12:22:24.156" v="454" actId="478"/>
          <ac:spMkLst>
            <pc:docMk/>
            <pc:sldMk cId="0" sldId="256"/>
            <ac:spMk id="12" creationId="{00000000-0000-0000-0000-000000000000}"/>
          </ac:spMkLst>
        </pc:spChg>
        <pc:spChg chg="del mod">
          <ac:chgData name="Jyoti Tiwari" userId="8ab25d1fce0ba38d" providerId="LiveId" clId="{B0B1D75C-D98D-4066-9FE9-D2012CB63D17}" dt="2026-09-01T12:22:26.776" v="455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Jyoti Tiwari" userId="8ab25d1fce0ba38d" providerId="LiveId" clId="{B0B1D75C-D98D-4066-9FE9-D2012CB63D17}" dt="2026-09-01T12:22:28.714" v="456" actId="478"/>
          <ac:spMkLst>
            <pc:docMk/>
            <pc:sldMk cId="0" sldId="256"/>
            <ac:spMk id="14" creationId="{00000000-0000-0000-0000-000000000000}"/>
          </ac:spMkLst>
        </pc:spChg>
        <pc:spChg chg="mod">
          <ac:chgData name="Jyoti Tiwari" userId="8ab25d1fce0ba38d" providerId="LiveId" clId="{B0B1D75C-D98D-4066-9FE9-D2012CB63D17}" dt="2026-09-01T12:30:51.550" v="629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Jyoti Tiwari" userId="8ab25d1fce0ba38d" providerId="LiveId" clId="{B0B1D75C-D98D-4066-9FE9-D2012CB63D17}" dt="2026-09-01T12:30:46.648" v="628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Jyoti Tiwari" userId="8ab25d1fce0ba38d" providerId="LiveId" clId="{B0B1D75C-D98D-4066-9FE9-D2012CB63D17}" dt="2026-09-01T12:30:41.970" v="627" actId="1076"/>
          <ac:spMkLst>
            <pc:docMk/>
            <pc:sldMk cId="0" sldId="256"/>
            <ac:spMk id="17" creationId="{00000000-0000-0000-0000-000000000000}"/>
          </ac:spMkLst>
        </pc:spChg>
        <pc:spChg chg="add del mod">
          <ac:chgData name="Jyoti Tiwari" userId="8ab25d1fce0ba38d" providerId="LiveId" clId="{B0B1D75C-D98D-4066-9FE9-D2012CB63D17}" dt="2026-09-01T12:21:50.856" v="397" actId="478"/>
          <ac:spMkLst>
            <pc:docMk/>
            <pc:sldMk cId="0" sldId="256"/>
            <ac:spMk id="18" creationId="{144D62A8-1F78-2FFB-8024-3126F5C1B5CE}"/>
          </ac:spMkLst>
        </pc:spChg>
        <pc:spChg chg="add del mod">
          <ac:chgData name="Jyoti Tiwari" userId="8ab25d1fce0ba38d" providerId="LiveId" clId="{B0B1D75C-D98D-4066-9FE9-D2012CB63D17}" dt="2026-09-01T12:21:54.166" v="399" actId="478"/>
          <ac:spMkLst>
            <pc:docMk/>
            <pc:sldMk cId="0" sldId="256"/>
            <ac:spMk id="20" creationId="{3CC7381F-F80B-1654-170A-3917406A0D64}"/>
          </ac:spMkLst>
        </pc:spChg>
        <pc:spChg chg="add del">
          <ac:chgData name="Jyoti Tiwari" userId="8ab25d1fce0ba38d" providerId="LiveId" clId="{B0B1D75C-D98D-4066-9FE9-D2012CB63D17}" dt="2026-09-01T12:23:10.181" v="461" actId="22"/>
          <ac:spMkLst>
            <pc:docMk/>
            <pc:sldMk cId="0" sldId="256"/>
            <ac:spMk id="25" creationId="{00B8BB2B-63EA-3DC0-AC13-4C0DC191EF93}"/>
          </ac:spMkLst>
        </pc:spChg>
        <pc:spChg chg="add">
          <ac:chgData name="Jyoti Tiwari" userId="8ab25d1fce0ba38d" providerId="LiveId" clId="{B0B1D75C-D98D-4066-9FE9-D2012CB63D17}" dt="2026-09-01T12:23:25.973" v="471" actId="22"/>
          <ac:spMkLst>
            <pc:docMk/>
            <pc:sldMk cId="0" sldId="256"/>
            <ac:spMk id="27" creationId="{BD12C2D7-F7E0-29D0-0089-DC1EAD7CB764}"/>
          </ac:spMkLst>
        </pc:spChg>
        <pc:spChg chg="add">
          <ac:chgData name="Jyoti Tiwari" userId="8ab25d1fce0ba38d" providerId="LiveId" clId="{B0B1D75C-D98D-4066-9FE9-D2012CB63D17}" dt="2026-09-01T12:24:00.224" v="474" actId="22"/>
          <ac:spMkLst>
            <pc:docMk/>
            <pc:sldMk cId="0" sldId="256"/>
            <ac:spMk id="31" creationId="{C1ADF501-102B-D426-58E0-AE5D83AAD9A3}"/>
          </ac:spMkLst>
        </pc:spChg>
        <pc:spChg chg="add del">
          <ac:chgData name="Jyoti Tiwari" userId="8ab25d1fce0ba38d" providerId="LiveId" clId="{B0B1D75C-D98D-4066-9FE9-D2012CB63D17}" dt="2026-09-01T12:24:31.991" v="477" actId="22"/>
          <ac:spMkLst>
            <pc:docMk/>
            <pc:sldMk cId="0" sldId="256"/>
            <ac:spMk id="35" creationId="{99F2EBB7-3A9C-A887-DFAE-E9C8ABE4432A}"/>
          </ac:spMkLst>
        </pc:spChg>
        <pc:spChg chg="add mod">
          <ac:chgData name="Jyoti Tiwari" userId="8ab25d1fce0ba38d" providerId="LiveId" clId="{B0B1D75C-D98D-4066-9FE9-D2012CB63D17}" dt="2026-09-01T12:35:43.288" v="653" actId="1076"/>
          <ac:spMkLst>
            <pc:docMk/>
            <pc:sldMk cId="0" sldId="256"/>
            <ac:spMk id="37" creationId="{D4FFA5A8-4C63-E404-45E2-16D69B7E30B3}"/>
          </ac:spMkLst>
        </pc:spChg>
        <pc:spChg chg="add mod">
          <ac:chgData name="Jyoti Tiwari" userId="8ab25d1fce0ba38d" providerId="LiveId" clId="{B0B1D75C-D98D-4066-9FE9-D2012CB63D17}" dt="2026-09-01T12:36:07.410" v="656" actId="1076"/>
          <ac:spMkLst>
            <pc:docMk/>
            <pc:sldMk cId="0" sldId="256"/>
            <ac:spMk id="39" creationId="{39D636EB-3C5E-E684-4388-999D5343CF10}"/>
          </ac:spMkLst>
        </pc:spChg>
        <pc:spChg chg="add mod">
          <ac:chgData name="Jyoti Tiwari" userId="8ab25d1fce0ba38d" providerId="LiveId" clId="{B0B1D75C-D98D-4066-9FE9-D2012CB63D17}" dt="2026-09-01T12:31:06.340" v="631" actId="1076"/>
          <ac:spMkLst>
            <pc:docMk/>
            <pc:sldMk cId="0" sldId="256"/>
            <ac:spMk id="41" creationId="{B72A50BB-AC2E-9BB6-E699-2D4B8D87AC95}"/>
          </ac:spMkLst>
        </pc:spChg>
        <pc:spChg chg="add mod">
          <ac:chgData name="Jyoti Tiwari" userId="8ab25d1fce0ba38d" providerId="LiveId" clId="{B0B1D75C-D98D-4066-9FE9-D2012CB63D17}" dt="2026-09-01T12:31:18.737" v="632" actId="255"/>
          <ac:spMkLst>
            <pc:docMk/>
            <pc:sldMk cId="0" sldId="256"/>
            <ac:spMk id="43" creationId="{ED0BC6D9-0D3C-8AFF-A612-6859C2A5E21C}"/>
          </ac:spMkLst>
        </pc:spChg>
        <pc:picChg chg="add del mod">
          <ac:chgData name="Jyoti Tiwari" userId="8ab25d1fce0ba38d" providerId="LiveId" clId="{B0B1D75C-D98D-4066-9FE9-D2012CB63D17}" dt="2026-09-01T12:21:49.816" v="396" actId="478"/>
          <ac:picMkLst>
            <pc:docMk/>
            <pc:sldMk cId="0" sldId="256"/>
            <ac:picMk id="19" creationId="{8B0DE742-11C3-358E-14A6-91D203436C80}"/>
          </ac:picMkLst>
        </pc:picChg>
        <pc:picChg chg="add del mod">
          <ac:chgData name="Jyoti Tiwari" userId="8ab25d1fce0ba38d" providerId="LiveId" clId="{B0B1D75C-D98D-4066-9FE9-D2012CB63D17}" dt="2026-09-01T12:21:52.785" v="398" actId="478"/>
          <ac:picMkLst>
            <pc:docMk/>
            <pc:sldMk cId="0" sldId="256"/>
            <ac:picMk id="21" creationId="{21CA0C3C-7907-AC2C-8AEA-93BB8C60D33B}"/>
          </ac:picMkLst>
        </pc:picChg>
        <pc:picChg chg="add del">
          <ac:chgData name="Jyoti Tiwari" userId="8ab25d1fce0ba38d" providerId="LiveId" clId="{B0B1D75C-D98D-4066-9FE9-D2012CB63D17}" dt="2026-09-01T12:23:16.808" v="470" actId="22"/>
          <ac:picMkLst>
            <pc:docMk/>
            <pc:sldMk cId="0" sldId="256"/>
            <ac:picMk id="23" creationId="{12E211F1-6D9C-DE96-C3DD-C871BCB8968E}"/>
          </ac:picMkLst>
        </pc:picChg>
        <pc:picChg chg="add">
          <ac:chgData name="Jyoti Tiwari" userId="8ab25d1fce0ba38d" providerId="LiveId" clId="{B0B1D75C-D98D-4066-9FE9-D2012CB63D17}" dt="2026-09-01T12:23:39.183" v="473" actId="22"/>
          <ac:picMkLst>
            <pc:docMk/>
            <pc:sldMk cId="0" sldId="256"/>
            <ac:picMk id="29" creationId="{F21B8262-412B-B744-C461-3D72B4CEB9AC}"/>
          </ac:picMkLst>
        </pc:picChg>
        <pc:picChg chg="add">
          <ac:chgData name="Jyoti Tiwari" userId="8ab25d1fce0ba38d" providerId="LiveId" clId="{B0B1D75C-D98D-4066-9FE9-D2012CB63D17}" dt="2026-09-01T12:24:11.666" v="475" actId="22"/>
          <ac:picMkLst>
            <pc:docMk/>
            <pc:sldMk cId="0" sldId="256"/>
            <ac:picMk id="33" creationId="{9405C137-E043-EACA-8E32-86DED27ADE83}"/>
          </ac:picMkLst>
        </pc:picChg>
      </pc:sldChg>
      <pc:sldChg chg="modSp mod">
        <pc:chgData name="Jyoti Tiwari" userId="8ab25d1fce0ba38d" providerId="LiveId" clId="{B0B1D75C-D98D-4066-9FE9-D2012CB63D17}" dt="2026-09-01T12:11:54.940" v="389" actId="20577"/>
        <pc:sldMkLst>
          <pc:docMk/>
          <pc:sldMk cId="0" sldId="258"/>
        </pc:sldMkLst>
        <pc:spChg chg="mod">
          <ac:chgData name="Jyoti Tiwari" userId="8ab25d1fce0ba38d" providerId="LiveId" clId="{B0B1D75C-D98D-4066-9FE9-D2012CB63D17}" dt="2026-09-01T12:11:32.596" v="370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Jyoti Tiwari" userId="8ab25d1fce0ba38d" providerId="LiveId" clId="{B0B1D75C-D98D-4066-9FE9-D2012CB63D17}" dt="2026-09-01T12:11:38.673" v="371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Jyoti Tiwari" userId="8ab25d1fce0ba38d" providerId="LiveId" clId="{B0B1D75C-D98D-4066-9FE9-D2012CB63D17}" dt="2026-09-01T12:11:54.940" v="389" actId="20577"/>
          <ac:spMkLst>
            <pc:docMk/>
            <pc:sldMk cId="0" sldId="258"/>
            <ac:spMk id="19" creationId="{00000000-0000-0000-0000-000000000000}"/>
          </ac:spMkLst>
        </pc:spChg>
      </pc:sldChg>
      <pc:sldChg chg="modSp mod">
        <pc:chgData name="Jyoti Tiwari" userId="8ab25d1fce0ba38d" providerId="LiveId" clId="{B0B1D75C-D98D-4066-9FE9-D2012CB63D17}" dt="2026-09-01T11:58:54.624" v="0" actId="1076"/>
        <pc:sldMkLst>
          <pc:docMk/>
          <pc:sldMk cId="0" sldId="265"/>
        </pc:sldMkLst>
        <pc:spChg chg="mod">
          <ac:chgData name="Jyoti Tiwari" userId="8ab25d1fce0ba38d" providerId="LiveId" clId="{B0B1D75C-D98D-4066-9FE9-D2012CB63D17}" dt="2026-09-01T11:58:54.624" v="0" actId="1076"/>
          <ac:spMkLst>
            <pc:docMk/>
            <pc:sldMk cId="0" sldId="265"/>
            <ac:spMk id="5" creationId="{00000000-0000-0000-0000-000000000000}"/>
          </ac:spMkLst>
        </pc:spChg>
      </pc:sldChg>
      <pc:sldChg chg="modSp mod">
        <pc:chgData name="Jyoti Tiwari" userId="8ab25d1fce0ba38d" providerId="LiveId" clId="{B0B1D75C-D98D-4066-9FE9-D2012CB63D17}" dt="2026-09-01T12:34:49.558" v="651" actId="20577"/>
        <pc:sldMkLst>
          <pc:docMk/>
          <pc:sldMk cId="0" sldId="268"/>
        </pc:sldMkLst>
        <pc:spChg chg="mod">
          <ac:chgData name="Jyoti Tiwari" userId="8ab25d1fce0ba38d" providerId="LiveId" clId="{B0B1D75C-D98D-4066-9FE9-D2012CB63D17}" dt="2026-09-01T11:59:40.529" v="21" actId="20577"/>
          <ac:spMkLst>
            <pc:docMk/>
            <pc:sldMk cId="0" sldId="268"/>
            <ac:spMk id="7" creationId="{00000000-0000-0000-0000-000000000000}"/>
          </ac:spMkLst>
        </pc:spChg>
        <pc:spChg chg="mod">
          <ac:chgData name="Jyoti Tiwari" userId="8ab25d1fce0ba38d" providerId="LiveId" clId="{B0B1D75C-D98D-4066-9FE9-D2012CB63D17}" dt="2026-09-01T11:59:50.694" v="40" actId="20577"/>
          <ac:spMkLst>
            <pc:docMk/>
            <pc:sldMk cId="0" sldId="268"/>
            <ac:spMk id="15" creationId="{00000000-0000-0000-0000-000000000000}"/>
          </ac:spMkLst>
        </pc:spChg>
        <pc:spChg chg="mod">
          <ac:chgData name="Jyoti Tiwari" userId="8ab25d1fce0ba38d" providerId="LiveId" clId="{B0B1D75C-D98D-4066-9FE9-D2012CB63D17}" dt="2026-09-01T12:34:49.558" v="651" actId="20577"/>
          <ac:spMkLst>
            <pc:docMk/>
            <pc:sldMk cId="0" sldId="268"/>
            <ac:spMk id="17" creationId="{00000000-0000-0000-0000-000000000000}"/>
          </ac:spMkLst>
        </pc:spChg>
      </pc:sldChg>
      <pc:sldChg chg="addSp delSp modSp mod">
        <pc:chgData name="Jyoti Tiwari" userId="8ab25d1fce0ba38d" providerId="LiveId" clId="{B0B1D75C-D98D-4066-9FE9-D2012CB63D17}" dt="2026-09-01T12:33:09.518" v="643" actId="20577"/>
        <pc:sldMkLst>
          <pc:docMk/>
          <pc:sldMk cId="0" sldId="269"/>
        </pc:sldMkLst>
        <pc:spChg chg="mod">
          <ac:chgData name="Jyoti Tiwari" userId="8ab25d1fce0ba38d" providerId="LiveId" clId="{B0B1D75C-D98D-4066-9FE9-D2012CB63D17}" dt="2026-09-01T12:32:45.663" v="640" actId="1076"/>
          <ac:spMkLst>
            <pc:docMk/>
            <pc:sldMk cId="0" sldId="269"/>
            <ac:spMk id="2" creationId="{00000000-0000-0000-0000-000000000000}"/>
          </ac:spMkLst>
        </pc:spChg>
        <pc:spChg chg="mod">
          <ac:chgData name="Jyoti Tiwari" userId="8ab25d1fce0ba38d" providerId="LiveId" clId="{B0B1D75C-D98D-4066-9FE9-D2012CB63D17}" dt="2026-09-01T12:02:00.327" v="177" actId="1076"/>
          <ac:spMkLst>
            <pc:docMk/>
            <pc:sldMk cId="0" sldId="269"/>
            <ac:spMk id="5" creationId="{00000000-0000-0000-0000-000000000000}"/>
          </ac:spMkLst>
        </pc:spChg>
        <pc:spChg chg="add del mod">
          <ac:chgData name="Jyoti Tiwari" userId="8ab25d1fce0ba38d" providerId="LiveId" clId="{B0B1D75C-D98D-4066-9FE9-D2012CB63D17}" dt="2026-09-01T12:32:54.133" v="641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Jyoti Tiwari" userId="8ab25d1fce0ba38d" providerId="LiveId" clId="{B0B1D75C-D98D-4066-9FE9-D2012CB63D17}" dt="2026-09-01T12:33:09.518" v="643" actId="20577"/>
          <ac:spMkLst>
            <pc:docMk/>
            <pc:sldMk cId="0" sldId="269"/>
            <ac:spMk id="10" creationId="{00000000-0000-0000-0000-000000000000}"/>
          </ac:spMkLst>
        </pc:spChg>
      </pc:sldChg>
      <pc:sldChg chg="addSp delSp new del mod">
        <pc:chgData name="Jyoti Tiwari" userId="8ab25d1fce0ba38d" providerId="LiveId" clId="{B0B1D75C-D98D-4066-9FE9-D2012CB63D17}" dt="2026-09-01T12:14:55.111" v="395" actId="680"/>
        <pc:sldMkLst>
          <pc:docMk/>
          <pc:sldMk cId="1880222868" sldId="270"/>
        </pc:sldMkLst>
        <pc:spChg chg="add del">
          <ac:chgData name="Jyoti Tiwari" userId="8ab25d1fce0ba38d" providerId="LiveId" clId="{B0B1D75C-D98D-4066-9FE9-D2012CB63D17}" dt="2026-09-01T12:14:54.635" v="394" actId="22"/>
          <ac:spMkLst>
            <pc:docMk/>
            <pc:sldMk cId="1880222868" sldId="270"/>
            <ac:spMk id="3" creationId="{8B18D2D2-CDBD-72FC-B97A-8CC123CDD501}"/>
          </ac:spMkLst>
        </pc:spChg>
      </pc:sldChg>
      <pc:sldChg chg="new del">
        <pc:chgData name="Jyoti Tiwari" userId="8ab25d1fce0ba38d" providerId="LiveId" clId="{B0B1D75C-D98D-4066-9FE9-D2012CB63D17}" dt="2026-09-01T12:14:35.012" v="391" actId="680"/>
        <pc:sldMkLst>
          <pc:docMk/>
          <pc:sldMk cId="3761705336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16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morning. Today I'll present CaseJeeto, a full-stack legal services marketplace I built and understood during my one-month summer training. It connects clients with verified advocates for discovery, booking, payment and consultation.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Legal advice in India is offline. There's no trust signal on advocates, fees are hidden, and booking is phone calls. Good lawyers stay invisible, clients take a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CaseJeeto is two-sided. A client discovers and consults; a lawyer manages profile, availability and earnings; an admin enforces the trust layer through verification and refunds.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persona columns. Key point: every role's API routes are guarded on the server with role-based middleware, matching what a real marketplace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Frontend in React+Vite+TS talks to an Express API with JWT. Socket.IO adds real-time chat. MongoDB on a replica set gives us transactions for booking/payment. Three providers: Razorpay payments, Daily.co video, Cloudinary uploads — each behind a service adapter.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Frontend React+Vite+TS, backend Node+Express+Mongoose, plus the three integrations. Mention: one language across the stack; Mongo chosen for schema flexibility; all closures behind adapters.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key screens as frames — replace with real high-res screenshots, or drop a recorded screen video here. Tell the journey as a story, not a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concrete security decisions: refresh tokens stored as SHA-256 hashes to avoid bcrypt's 72-byte collision; atomic CAS rotation so concurrent refreshes can't double-spend a token; up to 10 rotating sessions. Role middleware guards every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Four-step flow: create order, pay, HMAC verify, settle via webhook. Then three correctness details: paise with auto rupee mirror, capped partial refunds, atomic transaction for booking+payment.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Video: 15-minute cap enforced twice — room expiry and token expiry — with a skew buffer, so calls can't run over. Chat: JWT handshake auth, server-side membership check on every event, read receipts and throttled typing.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claim tested: 25+ backend regressions (including race conditions), 30 frontend contract tests. Everything runs on Node's test runner with mocked models — no database needed, so tests are deterministic and portable.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personal slide. The five things one month taught me: architecture thinking, security by design, real-time systems, reading third-party vendor documentation, and testing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columns. Today: honest limitations — local dev, uncertified end-to-end, localStorage tokens. Next: deploy on Render/Vercel, HttpOnly cookies, certify the full flow. Honesty earns more marks than overclaiming.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the one-line story again and invite questions. Keep a pause — don't rush the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9326880" y="4937760"/>
            <a:ext cx="3108960" cy="3108960"/>
          </a:xfrm>
          <a:prstGeom prst="ellipse">
            <a:avLst/>
          </a:prstGeom>
          <a:noFill/>
          <a:ln w="254000">
            <a:solidFill>
              <a:srgbClr val="23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778240" y="4389120"/>
            <a:ext cx="4206240" cy="4206240"/>
          </a:xfrm>
          <a:prstGeom prst="ellipse">
            <a:avLst/>
          </a:prstGeom>
          <a:noFill/>
          <a:ln w="254000">
            <a:solidFill>
              <a:srgbClr val="2A52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011680" cy="2011680"/>
          </a:xfrm>
          <a:prstGeom prst="ellipse">
            <a:avLst/>
          </a:prstGeom>
          <a:noFill/>
          <a:ln w="254000">
            <a:solidFill>
              <a:srgbClr val="17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8098" y="457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solidFill>
                  <a:srgbClr val="F6FBFB"/>
                </a:solidFill>
                <a:latin typeface="Segoe UI"/>
              </a:rPr>
              <a:t>SUMMER TRAINING PROJECT  •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77887"/>
            <a:ext cx="350997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dirty="0">
                <a:solidFill>
                  <a:srgbClr val="F6FBFB"/>
                </a:solidFill>
                <a:latin typeface="Segoe UI"/>
              </a:rPr>
              <a:t>Discover • Book • Pay • Consult</a:t>
            </a:r>
          </a:p>
        </p:txBody>
      </p:sp>
      <p:sp>
        <p:nvSpPr>
          <p:cNvPr id="15" name="Oval 14"/>
          <p:cNvSpPr/>
          <p:nvPr/>
        </p:nvSpPr>
        <p:spPr>
          <a:xfrm>
            <a:off x="550086" y="6345936"/>
            <a:ext cx="292608" cy="292608"/>
          </a:xfrm>
          <a:prstGeom prst="ellipse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13448" y="6386853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6FBFB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64248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F6FBFB"/>
                </a:solidFill>
                <a:latin typeface="Segoe UI"/>
              </a:rPr>
              <a:t>Verified marketplace concept — built &amp; tested in one month</a:t>
            </a:r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BD12C2D7-F7E0-29D0-0089-DC1EAD7CB764}"/>
              </a:ext>
            </a:extLst>
          </p:cNvPr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00615D"/>
          </a:solidFill>
          <a:ln/>
        </p:spPr>
      </p:sp>
      <p:pic>
        <p:nvPicPr>
          <p:cNvPr id="29" name="Image 0" descr="/home/claude/casejeeto_ppt/icon_balance_white.png">
            <a:extLst>
              <a:ext uri="{FF2B5EF4-FFF2-40B4-BE49-F238E27FC236}">
                <a16:creationId xmlns:a16="http://schemas.microsoft.com/office/drawing/2014/main" id="{F21B8262-412B-B744-C461-3D72B4CEB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005840"/>
            <a:ext cx="457200" cy="457200"/>
          </a:xfrm>
          <a:prstGeom prst="rect">
            <a:avLst/>
          </a:prstGeom>
        </p:spPr>
      </p:pic>
      <p:sp>
        <p:nvSpPr>
          <p:cNvPr id="31" name="Shape 3">
            <a:extLst>
              <a:ext uri="{FF2B5EF4-FFF2-40B4-BE49-F238E27FC236}">
                <a16:creationId xmlns:a16="http://schemas.microsoft.com/office/drawing/2014/main" id="{C1ADF501-102B-D426-58E0-AE5D83AAD9A3}"/>
              </a:ext>
            </a:extLst>
          </p:cNvPr>
          <p:cNvSpPr/>
          <p:nvPr/>
        </p:nvSpPr>
        <p:spPr>
          <a:xfrm>
            <a:off x="1417320" y="1417320"/>
            <a:ext cx="310896" cy="310896"/>
          </a:xfrm>
          <a:prstGeom prst="ellipse">
            <a:avLst/>
          </a:prstGeom>
          <a:solidFill>
            <a:srgbClr val="F5F9FC"/>
          </a:solidFill>
          <a:ln w="19050">
            <a:solidFill>
              <a:srgbClr val="00615D"/>
            </a:solidFill>
            <a:prstDash val="solid"/>
          </a:ln>
        </p:spPr>
      </p:sp>
      <p:pic>
        <p:nvPicPr>
          <p:cNvPr id="33" name="Image 1" descr="/home/claude/casejeeto_ppt/icon_check_teal.png">
            <a:extLst>
              <a:ext uri="{FF2B5EF4-FFF2-40B4-BE49-F238E27FC236}">
                <a16:creationId xmlns:a16="http://schemas.microsoft.com/office/drawing/2014/main" id="{9405C137-E043-EACA-8E32-86DED27AD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7612" y="1467612"/>
            <a:ext cx="210312" cy="210312"/>
          </a:xfrm>
          <a:prstGeom prst="rect">
            <a:avLst/>
          </a:prstGeom>
        </p:spPr>
      </p:pic>
      <p:sp>
        <p:nvSpPr>
          <p:cNvPr id="37" name="Text 4">
            <a:extLst>
              <a:ext uri="{FF2B5EF4-FFF2-40B4-BE49-F238E27FC236}">
                <a16:creationId xmlns:a16="http://schemas.microsoft.com/office/drawing/2014/main" id="{D4FFA5A8-4C63-E404-45E2-16D69B7E30B3}"/>
              </a:ext>
            </a:extLst>
          </p:cNvPr>
          <p:cNvSpPr txBox="1"/>
          <p:nvPr/>
        </p:nvSpPr>
        <p:spPr>
          <a:xfrm>
            <a:off x="887768" y="1858333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5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CaseJeeto</a:t>
            </a:r>
            <a:endParaRPr lang="en-US" sz="5400" dirty="0"/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39D636EB-3C5E-E684-4388-999D5343CF10}"/>
              </a:ext>
            </a:extLst>
          </p:cNvPr>
          <p:cNvSpPr txBox="1"/>
          <p:nvPr/>
        </p:nvSpPr>
        <p:spPr>
          <a:xfrm>
            <a:off x="942632" y="2985146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lawyer, made as easy as booking a cab.</a:t>
            </a:r>
            <a:endParaRPr lang="en-US" sz="2000" dirty="0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B72A50BB-AC2E-9BB6-E699-2D4B8D87AC95}"/>
              </a:ext>
            </a:extLst>
          </p:cNvPr>
          <p:cNvSpPr txBox="1"/>
          <p:nvPr/>
        </p:nvSpPr>
        <p:spPr>
          <a:xfrm>
            <a:off x="1005840" y="4557915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: Dr Ruchi</a:t>
            </a:r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ED0BC6D9-0D3C-8AFF-A612-6859C2A5E21C}"/>
              </a:ext>
            </a:extLst>
          </p:cNvPr>
          <p:cNvSpPr txBox="1"/>
          <p:nvPr/>
        </p:nvSpPr>
        <p:spPr>
          <a:xfrm>
            <a:off x="969264" y="5426595"/>
            <a:ext cx="7315200" cy="7125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Jyoti Tiwari  </a:t>
            </a:r>
            <a:br>
              <a:rPr lang="en-US" sz="1400" b="1" dirty="0">
                <a:solidFill>
                  <a:srgbClr val="F5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err="1">
                <a:solidFill>
                  <a:srgbClr val="F5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1400" dirty="0">
                <a:solidFill>
                  <a:srgbClr val="F5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ECE (CSE Specialization) – Bharati Vidyapeeth College Of Engineering , New Delhi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5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 - 06811502823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615D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E334F"/>
                </a:solidFill>
                <a:latin typeface="Segoe UI"/>
              </a:rPr>
              <a:t>Finding a trustworthy lawyer in India is hard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545775" cy="18288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83280" cy="2926080"/>
          </a:xfrm>
          <a:prstGeom prst="roundRect">
            <a:avLst>
              <a:gd name="adj" fmla="val 6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A63A2A"/>
                </a:solidFill>
                <a:latin typeface="Segoe U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2880360"/>
            <a:ext cx="640080" cy="64008"/>
          </a:xfrm>
          <a:prstGeom prst="rect">
            <a:avLst/>
          </a:prstGeom>
          <a:solidFill>
            <a:srgbClr val="A6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3108960"/>
            <a:ext cx="2743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E334F"/>
                </a:solidFill>
                <a:latin typeface="Segoe UI"/>
              </a:rPr>
              <a:t>No trust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977639"/>
            <a:ext cx="2788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5864"/>
                </a:solidFill>
                <a:latin typeface="Segoe UI"/>
              </a:rPr>
              <a:t>No way to verify an advocate or read genuine reviews before paying.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286000"/>
            <a:ext cx="3383280" cy="2926080"/>
          </a:xfrm>
          <a:prstGeom prst="roundRect">
            <a:avLst>
              <a:gd name="adj" fmla="val 6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25146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A87932"/>
                </a:solidFill>
                <a:latin typeface="Segoe UI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880360"/>
            <a:ext cx="640080" cy="64008"/>
          </a:xfrm>
          <a:prstGeom prst="rect">
            <a:avLst/>
          </a:prstGeom>
          <a:solidFill>
            <a:srgbClr val="A87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3108960"/>
            <a:ext cx="2743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E334F"/>
                </a:solidFill>
                <a:latin typeface="Segoe UI"/>
              </a:rPr>
              <a:t>No price transparency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977639"/>
            <a:ext cx="2788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5864"/>
                </a:solidFill>
                <a:latin typeface="Segoe UI"/>
              </a:rPr>
              <a:t>Fees are hidden until you meet; can't compare advocates.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286000"/>
            <a:ext cx="3383280" cy="2926080"/>
          </a:xfrm>
          <a:prstGeom prst="roundRect">
            <a:avLst>
              <a:gd name="adj" fmla="val 6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5146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F60"/>
                </a:solidFill>
                <a:latin typeface="Segoe UI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2880360"/>
            <a:ext cx="640080" cy="64008"/>
          </a:xfrm>
          <a:prstGeom prst="rect">
            <a:avLst/>
          </a:prstGeom>
          <a:solidFill>
            <a:srgbClr val="1E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3108960"/>
            <a:ext cx="2743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E334F"/>
                </a:solidFill>
                <a:latin typeface="Segoe UI"/>
              </a:rPr>
              <a:t>No structured booking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977639"/>
            <a:ext cx="2788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5864"/>
                </a:solidFill>
                <a:latin typeface="Segoe UI"/>
              </a:rPr>
              <a:t>Offline referrals, phone calls, walk-ins — no booking or online payment.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6928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E334F"/>
                </a:solidFill>
                <a:latin typeface="Segoe UI"/>
              </a:rPr>
              <a:t>Result: clients take a leap of faith; good advocates stay invisible.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CaseJeeto  •  Full-Stack Legal Marketplace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11475720" y="6510528"/>
            <a:ext cx="228600" cy="228600"/>
          </a:xfrm>
          <a:prstGeom prst="ellipse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615D"/>
                </a:solidFill>
                <a:latin typeface="Segoe UI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E334F"/>
                </a:solidFill>
                <a:latin typeface="Segoe UI"/>
              </a:rPr>
              <a:t>Two-sided marketplace — like Ola for legal consultation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44977"/>
            <a:ext cx="10545775" cy="18288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8269" y="4532145"/>
            <a:ext cx="10515600" cy="27432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828800" y="2514600"/>
            <a:ext cx="457200" cy="457200"/>
          </a:xfrm>
          <a:prstGeom prst="ellipse">
            <a:avLst/>
          </a:prstGeom>
          <a:solidFill>
            <a:srgbClr val="0E3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2514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F9FC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4688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E334F"/>
                </a:solidFill>
                <a:latin typeface="Segoe UI"/>
              </a:rP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B5864"/>
                </a:solidFill>
                <a:latin typeface="Segoe UI"/>
              </a:rPr>
              <a:t>Discovers, compares, books, pays, consults, reviews</a:t>
            </a:r>
          </a:p>
        </p:txBody>
      </p:sp>
      <p:sp>
        <p:nvSpPr>
          <p:cNvPr id="11" name="Oval 10"/>
          <p:cNvSpPr/>
          <p:nvPr/>
        </p:nvSpPr>
        <p:spPr>
          <a:xfrm>
            <a:off x="7498079" y="2514600"/>
            <a:ext cx="457200" cy="457200"/>
          </a:xfrm>
          <a:prstGeom prst="ellipse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79" y="2514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6FBFB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4688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615D"/>
                </a:solidFill>
                <a:latin typeface="Segoe UI"/>
              </a:rPr>
              <a:t>Lawyer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78892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B5864"/>
                </a:solidFill>
                <a:latin typeface="Segoe UI"/>
              </a:rPr>
              <a:t>Onboards, verifies, manages availability &amp; earnings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0" y="3200400"/>
            <a:ext cx="457200" cy="457200"/>
          </a:xfrm>
          <a:prstGeom prst="ellipse">
            <a:avLst/>
          </a:prstGeom>
          <a:solidFill>
            <a:srgbClr val="3C7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3200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F9FC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154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3C7052"/>
                </a:solidFill>
                <a:latin typeface="Segoe UI"/>
              </a:rPr>
              <a:t>Admin (trust layer)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474720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B5864"/>
                </a:solidFill>
                <a:latin typeface="Segoe UI"/>
              </a:rPr>
              <a:t>Approves verifications, processes refunds, reviews payments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54880"/>
            <a:ext cx="10515600" cy="7155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dirty="0">
                <a:solidFill>
                  <a:srgbClr val="00615D"/>
                </a:solidFill>
                <a:latin typeface="Segoe UI"/>
              </a:rPr>
              <a:t>“Find a verified lawyer, see the fee, book a slot, pay online, and consult over video — all in one place.”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CaseJeeto  •  Full-Stack Legal Marketplace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11475720" y="6510528"/>
            <a:ext cx="228600" cy="228600"/>
          </a:xfrm>
          <a:prstGeom prst="ellipse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615D"/>
                </a:solidFill>
                <a:latin typeface="Segoe UI"/>
              </a:rPr>
              <a:t>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E334F"/>
                </a:solidFill>
                <a:latin typeface="Segoe UI"/>
              </a:rPr>
              <a:t>Three roles, one connected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545775" cy="18288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83280" cy="356616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3383280" cy="685800"/>
          </a:xfrm>
          <a:prstGeom prst="roundRect">
            <a:avLst>
              <a:gd name="adj" fmla="val 5000"/>
            </a:avLst>
          </a:prstGeom>
          <a:solidFill>
            <a:srgbClr val="1E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28600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F9FC"/>
                </a:solidFill>
                <a:latin typeface="Segoe UI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06324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3F60"/>
                </a:solidFill>
                <a:latin typeface="Segoe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0175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9242E"/>
                </a:solidFill>
                <a:latin typeface="Segoe UI"/>
              </a:rPr>
              <a:t>Search &amp; compare lawyers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52044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3F60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4747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9242E"/>
                </a:solidFill>
                <a:latin typeface="Segoe UI"/>
              </a:rPr>
              <a:t>View fees, ratings, reviews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977639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3F60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9319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9242E"/>
                </a:solidFill>
                <a:latin typeface="Segoe UI"/>
              </a:rPr>
              <a:t>Book &amp; pay securely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3484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3F60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3891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9242E"/>
                </a:solidFill>
                <a:latin typeface="Segoe UI"/>
              </a:rPr>
              <a:t>Video consultation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89204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3F60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8463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9242E"/>
                </a:solidFill>
                <a:latin typeface="Segoe UI"/>
              </a:rPr>
              <a:t>Real-time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34924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3F60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53035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9242E"/>
                </a:solidFill>
                <a:latin typeface="Segoe UI"/>
              </a:rPr>
              <a:t>Review, refund, invoice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2148840"/>
            <a:ext cx="3383280" cy="356616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434840" y="2148840"/>
            <a:ext cx="3383280" cy="685800"/>
          </a:xfrm>
          <a:prstGeom prst="roundRect">
            <a:avLst>
              <a:gd name="adj" fmla="val 5000"/>
            </a:avLst>
          </a:prstGeom>
          <a:solidFill>
            <a:srgbClr val="3C7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228600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F9FC"/>
                </a:solidFill>
                <a:latin typeface="Segoe UI"/>
              </a:rPr>
              <a:t>LAWYER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06324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C7052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0175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9242E"/>
                </a:solidFill>
                <a:latin typeface="Segoe UI"/>
              </a:rPr>
              <a:t>Profile onboarding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52044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C7052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4747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9242E"/>
                </a:solidFill>
                <a:latin typeface="Segoe UI"/>
              </a:rPr>
              <a:t>Upload verification docs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3977639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C7052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39319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9242E"/>
                </a:solidFill>
                <a:latin typeface="Segoe UI"/>
              </a:rPr>
              <a:t>Manage availability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443484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C7052"/>
                </a:solidFill>
                <a:latin typeface="Segoe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43891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9242E"/>
                </a:solidFill>
                <a:latin typeface="Segoe UI"/>
              </a:rPr>
              <a:t>Confirm &amp; complete bookings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489204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C7052"/>
                </a:solidFill>
                <a:latin typeface="Segoe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8463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9242E"/>
                </a:solidFill>
                <a:latin typeface="Segoe UI"/>
              </a:rPr>
              <a:t>Earnings &amp; payouts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534924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C7052"/>
                </a:solidFill>
                <a:latin typeface="Segoe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53035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9242E"/>
                </a:solidFill>
                <a:latin typeface="Segoe UI"/>
              </a:rPr>
              <a:t>Client inbox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2148840"/>
            <a:ext cx="3383280" cy="356616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046720" y="2148840"/>
            <a:ext cx="3383280" cy="685800"/>
          </a:xfrm>
          <a:prstGeom prst="roundRect">
            <a:avLst>
              <a:gd name="adj" fmla="val 5000"/>
            </a:avLst>
          </a:prstGeom>
          <a:solidFill>
            <a:srgbClr val="A6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66760" y="228600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F9FC"/>
                </a:solidFill>
                <a:latin typeface="Segoe UI"/>
              </a:rPr>
              <a:t>ADMIN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06324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63A2A"/>
                </a:solidFill>
                <a:latin typeface="Segoe U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30175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9242E"/>
                </a:solidFill>
                <a:latin typeface="Segoe UI"/>
              </a:rPr>
              <a:t>Approve verifications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52044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63A2A"/>
                </a:solidFill>
                <a:latin typeface="Segoe U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60" y="34747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9242E"/>
                </a:solidFill>
                <a:latin typeface="Segoe UI"/>
              </a:rPr>
              <a:t>Process refund requests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3977639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63A2A"/>
                </a:solidFill>
                <a:latin typeface="Segoe U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39319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9242E"/>
                </a:solidFill>
                <a:latin typeface="Segoe UI"/>
              </a:rPr>
              <a:t>Review payments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443484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63A2A"/>
                </a:solidFill>
                <a:latin typeface="Segoe U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43891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9242E"/>
                </a:solidFill>
                <a:latin typeface="Segoe UI"/>
              </a:rPr>
              <a:t>Enforce trust &amp; fairness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B5864"/>
                </a:solidFill>
                <a:latin typeface="Segoe UI"/>
              </a:rPr>
              <a:t>Every role has role-guarded API routes — access is enforced on the server, not the UI.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CaseJeeto  •  Full-Stack Legal Marketplace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4</a:t>
            </a:r>
          </a:p>
        </p:txBody>
      </p:sp>
      <p:sp>
        <p:nvSpPr>
          <p:cNvPr id="50" name="Oval 49"/>
          <p:cNvSpPr/>
          <p:nvPr/>
        </p:nvSpPr>
        <p:spPr>
          <a:xfrm>
            <a:off x="11475720" y="6510528"/>
            <a:ext cx="228600" cy="228600"/>
          </a:xfrm>
          <a:prstGeom prst="ellipse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615D"/>
                </a:solidFill>
                <a:latin typeface="Segoe UI"/>
              </a:rP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E334F"/>
                </a:solidFill>
                <a:latin typeface="Segoe UI"/>
              </a:rPr>
              <a:t>Architecture: full-stack, four integrations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545775" cy="18288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0E3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6FBFB"/>
                </a:solidFill>
                <a:latin typeface="Segoe UI"/>
              </a:rPr>
              <a:t>WEB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5F9FC"/>
                </a:solidFill>
                <a:latin typeface="Segoe UI"/>
              </a:rPr>
              <a:t>React + Vite + TypeScript
Tailwind + TanStack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61188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615D"/>
                </a:solidFill>
                <a:latin typeface="Segoe UI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04164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HTTP + JWT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43484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0E3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6FBFB"/>
                </a:solidFill>
                <a:latin typeface="Segoe UI"/>
              </a:rPr>
              <a:t>EXPRESS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5F9FC"/>
                </a:solidFill>
                <a:latin typeface="Segoe UI"/>
              </a:rPr>
              <a:t>Routes • Controllers • Middleware
Auth • Rate limiting • Transactions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443484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45720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6FBFB"/>
                </a:solidFill>
                <a:latin typeface="Segoe UI"/>
              </a:rPr>
              <a:t>SOCKET.IO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89204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6FBFB"/>
                </a:solidFill>
                <a:latin typeface="Segoe UI"/>
              </a:rPr>
              <a:t>Real-time chat
Typing • Read receipts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41648" y="5029200"/>
            <a:ext cx="320040" cy="228600"/>
          </a:xfrm>
          <a:prstGeom prst="rect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" y="5897880"/>
            <a:ext cx="3108960" cy="685800"/>
          </a:xfrm>
          <a:prstGeom prst="roundRect">
            <a:avLst>
              <a:gd name="adj" fmla="val 12000"/>
            </a:avLst>
          </a:prstGeom>
          <a:solidFill>
            <a:srgbClr val="1E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605332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F9FC"/>
                </a:solidFill>
                <a:latin typeface="Segoe UI"/>
              </a:rPr>
              <a:t>MongoDB (replica set, transactions)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6126480"/>
            <a:ext cx="320040" cy="228600"/>
          </a:xfrm>
          <a:prstGeom prst="rect">
            <a:avLst/>
          </a:prstGeom>
          <a:solidFill>
            <a:srgbClr val="1E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949440" y="219456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A6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23957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F9FC"/>
                </a:solidFill>
                <a:latin typeface="Segoe UI"/>
              </a:rPr>
              <a:t>RAZORPAY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78892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EEF2F5"/>
                </a:solidFill>
                <a:latin typeface="Segoe UI"/>
              </a:rPr>
              <a:t>Payments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6118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B5864"/>
                </a:solidFill>
                <a:latin typeface="Segoe UI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4023360"/>
            <a:ext cx="1691640" cy="502920"/>
          </a:xfrm>
          <a:prstGeom prst="roundRect">
            <a:avLst>
              <a:gd name="adj" fmla="val 12000"/>
            </a:avLst>
          </a:prstGeom>
          <a:solidFill>
            <a:srgbClr val="ED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0" y="4133087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webhook/sdk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219456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A87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32520" y="23957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F9FC"/>
                </a:solidFill>
                <a:latin typeface="Segoe UI"/>
              </a:rPr>
              <a:t>DAILY.CO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278892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EEF2F5"/>
                </a:solidFill>
                <a:latin typeface="Segoe UI"/>
              </a:rPr>
              <a:t>Video calls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6118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B5864"/>
                </a:solidFill>
                <a:latin typeface="Segoe UI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32520" y="4023360"/>
            <a:ext cx="1691640" cy="502920"/>
          </a:xfrm>
          <a:prstGeom prst="roundRect">
            <a:avLst>
              <a:gd name="adj" fmla="val 12000"/>
            </a:avLst>
          </a:prstGeom>
          <a:solidFill>
            <a:srgbClr val="ED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32520" y="4133087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webhook/sdk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0" y="219456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3C7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15600" y="23957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F9FC"/>
                </a:solidFill>
                <a:latin typeface="Segoe UI"/>
              </a:rPr>
              <a:t>CLOUDINARY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278892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EEF2F5"/>
                </a:solidFill>
                <a:latin typeface="Segoe UI"/>
              </a:rPr>
              <a:t>Uploads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36118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B5864"/>
                </a:solidFill>
                <a:latin typeface="Segoe UI"/>
              </a:rPr>
              <a:t>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15600" y="4023360"/>
            <a:ext cx="1691640" cy="502920"/>
          </a:xfrm>
          <a:prstGeom prst="roundRect">
            <a:avLst>
              <a:gd name="adj" fmla="val 12000"/>
            </a:avLst>
          </a:prstGeom>
          <a:solidFill>
            <a:srgbClr val="ED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15600" y="4133087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webhook/sdk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41648" y="2834640"/>
            <a:ext cx="320040" cy="228600"/>
          </a:xfrm>
          <a:prstGeom prst="rect">
            <a:avLst/>
          </a:prstGeom>
          <a:solidFill>
            <a:srgbClr val="ED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800" y="3063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Webhooks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CaseJeeto  •  Full-Stack Legal Marketplace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5</a:t>
            </a:r>
          </a:p>
        </p:txBody>
      </p:sp>
      <p:sp>
        <p:nvSpPr>
          <p:cNvPr id="43" name="Oval 42"/>
          <p:cNvSpPr/>
          <p:nvPr/>
        </p:nvSpPr>
        <p:spPr>
          <a:xfrm>
            <a:off x="11475720" y="6510528"/>
            <a:ext cx="228600" cy="228600"/>
          </a:xfrm>
          <a:prstGeom prst="ellipse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615D"/>
                </a:solidFill>
                <a:latin typeface="Segoe UI"/>
              </a:rPr>
              <a:t>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E334F"/>
                </a:solidFill>
                <a:latin typeface="Segoe UI"/>
              </a:rPr>
              <a:t>Technologies that power the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545775" cy="18288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3F60"/>
                </a:solidFill>
                <a:latin typeface="Segoe UI"/>
              </a:rPr>
              <a:t>FRONTEND (web/)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3108960" cy="475488"/>
          </a:xfrm>
          <a:prstGeom prst="roundRect">
            <a:avLst>
              <a:gd name="adj" fmla="val 25000"/>
            </a:avLst>
          </a:prstGeom>
          <a:solidFill>
            <a:srgbClr val="FFFDFA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66090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334F"/>
                </a:solidFill>
                <a:latin typeface="Segoe UI"/>
              </a:rPr>
              <a:t>React 19 + Vite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68833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B5864"/>
                </a:solidFill>
                <a:latin typeface="Segoe UI"/>
              </a:rPr>
              <a:t>UI + 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72968"/>
            <a:ext cx="3108960" cy="475488"/>
          </a:xfrm>
          <a:prstGeom prst="roundRect">
            <a:avLst>
              <a:gd name="adj" fmla="val 25000"/>
            </a:avLst>
          </a:prstGeom>
          <a:solidFill>
            <a:srgbClr val="FFFDFA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22783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334F"/>
                </a:solidFill>
                <a:latin typeface="Segoe UI"/>
              </a:rPr>
              <a:t>TypeScript (strict)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2552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B5864"/>
                </a:solidFill>
                <a:latin typeface="Segoe UI"/>
              </a:rPr>
              <a:t>types &amp; safety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39896"/>
            <a:ext cx="3108960" cy="475488"/>
          </a:xfrm>
          <a:prstGeom prst="roundRect">
            <a:avLst>
              <a:gd name="adj" fmla="val 25000"/>
            </a:avLst>
          </a:prstGeom>
          <a:solidFill>
            <a:srgbClr val="FFFDFA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794759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334F"/>
                </a:solidFill>
                <a:latin typeface="Segoe UI"/>
              </a:rPr>
              <a:t>Tailwind CSS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822191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B5864"/>
                </a:solidFill>
                <a:latin typeface="Segoe UI"/>
              </a:rPr>
              <a:t>styling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306824"/>
            <a:ext cx="3108960" cy="475488"/>
          </a:xfrm>
          <a:prstGeom prst="roundRect">
            <a:avLst>
              <a:gd name="adj" fmla="val 25000"/>
            </a:avLst>
          </a:prstGeom>
          <a:solidFill>
            <a:srgbClr val="FFFDFA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3616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334F"/>
                </a:solidFill>
                <a:latin typeface="Segoe UI"/>
              </a:rPr>
              <a:t>TanStack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3891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B5864"/>
                </a:solidFill>
                <a:latin typeface="Segoe UI"/>
              </a:rPr>
              <a:t>server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73752"/>
            <a:ext cx="3108960" cy="475488"/>
          </a:xfrm>
          <a:prstGeom prst="roundRect">
            <a:avLst>
              <a:gd name="adj" fmla="val 25000"/>
            </a:avLst>
          </a:prstGeom>
          <a:solidFill>
            <a:srgbClr val="FFFDFA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92861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334F"/>
                </a:solidFill>
                <a:latin typeface="Segoe UI"/>
              </a:rPr>
              <a:t>shadcn/ui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95604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B5864"/>
                </a:solidFill>
                <a:latin typeface="Segoe UI"/>
              </a:rPr>
              <a:t>components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440680"/>
            <a:ext cx="3108960" cy="475488"/>
          </a:xfrm>
          <a:prstGeom prst="roundRect">
            <a:avLst>
              <a:gd name="adj" fmla="val 25000"/>
            </a:avLst>
          </a:prstGeom>
          <a:solidFill>
            <a:srgbClr val="FFFDFA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49554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334F"/>
                </a:solidFill>
                <a:latin typeface="Segoe UI"/>
              </a:rPr>
              <a:t>socket.io-client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52297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B5864"/>
                </a:solidFill>
                <a:latin typeface="Segoe UI"/>
              </a:rPr>
              <a:t>real-time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1488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C7052"/>
                </a:solidFill>
                <a:latin typeface="Segoe UI"/>
              </a:rPr>
              <a:t>BACKEND (server/)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2606040"/>
            <a:ext cx="3108960" cy="475488"/>
          </a:xfrm>
          <a:prstGeom prst="roundRect">
            <a:avLst>
              <a:gd name="adj" fmla="val 25000"/>
            </a:avLst>
          </a:prstGeom>
          <a:solidFill>
            <a:srgbClr val="FFFDFA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0" y="266090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334F"/>
                </a:solidFill>
                <a:latin typeface="Segoe UI"/>
              </a:rPr>
              <a:t>Node.js + Express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68833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B5864"/>
                </a:solidFill>
                <a:latin typeface="Segoe UI"/>
              </a:rPr>
              <a:t>runtime &amp; 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3172968"/>
            <a:ext cx="3108960" cy="475488"/>
          </a:xfrm>
          <a:prstGeom prst="roundRect">
            <a:avLst>
              <a:gd name="adj" fmla="val 25000"/>
            </a:avLst>
          </a:prstGeom>
          <a:solidFill>
            <a:srgbClr val="FFFDFA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0" y="322783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334F"/>
                </a:solidFill>
                <a:latin typeface="Segoe UI"/>
              </a:rPr>
              <a:t>MongoDB + Mongoose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2552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B5864"/>
                </a:solidFill>
                <a:latin typeface="Segoe UI"/>
              </a:rPr>
              <a:t>database / ODM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3739896"/>
            <a:ext cx="3108960" cy="475488"/>
          </a:xfrm>
          <a:prstGeom prst="roundRect">
            <a:avLst>
              <a:gd name="adj" fmla="val 25000"/>
            </a:avLst>
          </a:prstGeom>
          <a:solidFill>
            <a:srgbClr val="FFFDFA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54880" y="3794759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334F"/>
                </a:solidFill>
                <a:latin typeface="Segoe UI"/>
              </a:rPr>
              <a:t>Socket.IO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822191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B5864"/>
                </a:solidFill>
                <a:latin typeface="Segoe UI"/>
              </a:rPr>
              <a:t>chat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4306824"/>
            <a:ext cx="3108960" cy="475488"/>
          </a:xfrm>
          <a:prstGeom prst="roundRect">
            <a:avLst>
              <a:gd name="adj" fmla="val 25000"/>
            </a:avLst>
          </a:prstGeom>
          <a:solidFill>
            <a:srgbClr val="FFFDFA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54880" y="43616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334F"/>
                </a:solidFill>
                <a:latin typeface="Segoe UI"/>
              </a:rPr>
              <a:t>jsonwebtoken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3891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B5864"/>
                </a:solidFill>
                <a:latin typeface="Segoe UI"/>
              </a:rPr>
              <a:t>auth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0" y="4873752"/>
            <a:ext cx="3108960" cy="475488"/>
          </a:xfrm>
          <a:prstGeom prst="roundRect">
            <a:avLst>
              <a:gd name="adj" fmla="val 25000"/>
            </a:avLst>
          </a:prstGeom>
          <a:solidFill>
            <a:srgbClr val="FFFDFA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54880" y="492861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334F"/>
                </a:solidFill>
                <a:latin typeface="Segoe UI"/>
              </a:rPr>
              <a:t>bcrypt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95604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B5864"/>
                </a:solidFill>
                <a:latin typeface="Segoe UI"/>
              </a:rPr>
              <a:t>password hashing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0" y="5440680"/>
            <a:ext cx="3108960" cy="475488"/>
          </a:xfrm>
          <a:prstGeom prst="roundRect">
            <a:avLst>
              <a:gd name="adj" fmla="val 25000"/>
            </a:avLst>
          </a:prstGeom>
          <a:solidFill>
            <a:srgbClr val="FFFDFA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54880" y="549554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334F"/>
                </a:solidFill>
                <a:latin typeface="Segoe UI"/>
              </a:rPr>
              <a:t>helmet + rate-limit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52297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B5864"/>
                </a:solidFill>
                <a:latin typeface="Segoe UI"/>
              </a:rPr>
              <a:t>security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21488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A63A2A"/>
                </a:solidFill>
                <a:latin typeface="Segoe UI"/>
              </a:rPr>
              <a:t>INTEGRATIONS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21040" y="2606040"/>
            <a:ext cx="3108960" cy="475488"/>
          </a:xfrm>
          <a:prstGeom prst="roundRect">
            <a:avLst>
              <a:gd name="adj" fmla="val 25000"/>
            </a:avLst>
          </a:prstGeom>
          <a:solidFill>
            <a:srgbClr val="FFFDFA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03919" y="266090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334F"/>
                </a:solidFill>
                <a:latin typeface="Segoe UI"/>
              </a:rPr>
              <a:t>Razorpay SDK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49840" y="268833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B5864"/>
                </a:solidFill>
                <a:latin typeface="Segoe UI"/>
              </a:rPr>
              <a:t>orders, webhooks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1040" y="3172968"/>
            <a:ext cx="3108960" cy="475488"/>
          </a:xfrm>
          <a:prstGeom prst="roundRect">
            <a:avLst>
              <a:gd name="adj" fmla="val 25000"/>
            </a:avLst>
          </a:prstGeom>
          <a:solidFill>
            <a:srgbClr val="FFFDFA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03919" y="322783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334F"/>
                </a:solidFill>
                <a:latin typeface="Segoe UI"/>
              </a:rPr>
              <a:t>Daily.co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9840" y="32552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B5864"/>
                </a:solidFill>
                <a:latin typeface="Segoe UI"/>
              </a:rPr>
              <a:t>video rooms/tokens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21040" y="3739896"/>
            <a:ext cx="3108960" cy="475488"/>
          </a:xfrm>
          <a:prstGeom prst="roundRect">
            <a:avLst>
              <a:gd name="adj" fmla="val 25000"/>
            </a:avLst>
          </a:prstGeom>
          <a:solidFill>
            <a:srgbClr val="FFFDFA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503919" y="3794759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334F"/>
                </a:solidFill>
                <a:latin typeface="Segoe UI"/>
              </a:rPr>
              <a:t>Cloudinary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3822191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B5864"/>
                </a:solidFill>
                <a:latin typeface="Segoe UI"/>
              </a:rPr>
              <a:t>uploads &amp; storage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21040" y="4306824"/>
            <a:ext cx="3108960" cy="475488"/>
          </a:xfrm>
          <a:prstGeom prst="roundRect">
            <a:avLst>
              <a:gd name="adj" fmla="val 25000"/>
            </a:avLst>
          </a:prstGeom>
          <a:solidFill>
            <a:srgbClr val="FFFDFA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03919" y="43616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334F"/>
                </a:solidFill>
                <a:latin typeface="Segoe UI"/>
              </a:rPr>
              <a:t>multer + streamifier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49840" y="43891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B5864"/>
                </a:solidFill>
                <a:latin typeface="Segoe UI"/>
              </a:rPr>
              <a:t>file pipeline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873752"/>
            <a:ext cx="3108960" cy="475488"/>
          </a:xfrm>
          <a:prstGeom prst="roundRect">
            <a:avLst>
              <a:gd name="adj" fmla="val 25000"/>
            </a:avLst>
          </a:prstGeom>
          <a:solidFill>
            <a:srgbClr val="FFFDFA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03919" y="492861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334F"/>
                </a:solidFill>
                <a:latin typeface="Segoe UI"/>
              </a:rPr>
              <a:t>axios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49840" y="495604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B5864"/>
                </a:solidFill>
                <a:latin typeface="Segoe UI"/>
              </a:rPr>
              <a:t>HTTP to providers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21040" y="5440680"/>
            <a:ext cx="3108960" cy="475488"/>
          </a:xfrm>
          <a:prstGeom prst="roundRect">
            <a:avLst>
              <a:gd name="adj" fmla="val 25000"/>
            </a:avLst>
          </a:prstGeom>
          <a:solidFill>
            <a:srgbClr val="FFFDFA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03919" y="549554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334F"/>
                </a:solidFill>
                <a:latin typeface="Segoe UI"/>
              </a:rPr>
              <a:t>node --test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49840" y="552297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B5864"/>
                </a:solidFill>
                <a:latin typeface="Segoe UI"/>
              </a:rPr>
              <a:t>runner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B5864"/>
                </a:solidFill>
                <a:latin typeface="Segoe UI"/>
              </a:rPr>
              <a:t>Every choice was deliberate — e.g. Mongo for flexible docs, Node for one language across the stack.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CaseJeeto  •  Full-Stack Legal Marketplace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6</a:t>
            </a:r>
          </a:p>
        </p:txBody>
      </p:sp>
      <p:sp>
        <p:nvSpPr>
          <p:cNvPr id="66" name="Oval 65"/>
          <p:cNvSpPr/>
          <p:nvPr/>
        </p:nvSpPr>
        <p:spPr>
          <a:xfrm>
            <a:off x="11475720" y="6510528"/>
            <a:ext cx="228600" cy="228600"/>
          </a:xfrm>
          <a:prstGeom prst="ellipse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615D"/>
                </a:solidFill>
                <a:latin typeface="Segoe UI"/>
              </a:rP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E334F"/>
                </a:solidFill>
                <a:latin typeface="Segoe UI"/>
              </a:rPr>
              <a:t>Landing → Search → Book → Pay → Consult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545775" cy="18288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3246120" cy="2331720"/>
          </a:xfrm>
          <a:prstGeom prst="roundRect">
            <a:avLst>
              <a:gd name="adj" fmla="val 6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080260" y="2583179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ED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23060" y="28575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4B5864"/>
                </a:solidFill>
                <a:latin typeface="Segoe UI"/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023359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E334F"/>
                </a:solidFill>
                <a:latin typeface="Segoe UI"/>
              </a:rPr>
              <a:t>1 – Landing /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251959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Home + discover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94560"/>
            <a:ext cx="3246120" cy="2331720"/>
          </a:xfrm>
          <a:prstGeom prst="roundRect">
            <a:avLst>
              <a:gd name="adj" fmla="val 6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509260" y="2583179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ED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52060" y="28575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4B5864"/>
                </a:solidFill>
                <a:latin typeface="Segoe UI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023359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E334F"/>
                </a:solidFill>
                <a:latin typeface="Segoe UI"/>
              </a:rPr>
              <a:t>2 – Lawyer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251959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Compare, reviews, fee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194560"/>
            <a:ext cx="3246120" cy="2331720"/>
          </a:xfrm>
          <a:prstGeom prst="roundRect">
            <a:avLst>
              <a:gd name="adj" fmla="val 6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938260" y="2583179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ED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81060" y="28575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4B5864"/>
                </a:solidFill>
                <a:latin typeface="Segoe UI"/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4023359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E334F"/>
                </a:solidFill>
                <a:latin typeface="Segoe UI"/>
              </a:rPr>
              <a:t>3 – Book &amp; Pay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251959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Razorpay checkout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14600" y="4663440"/>
            <a:ext cx="3383280" cy="1554480"/>
          </a:xfrm>
          <a:prstGeom prst="roundRect">
            <a:avLst>
              <a:gd name="adj" fmla="val 6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749039" y="466344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ED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91839" y="4937759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4B5864"/>
                </a:solidFill>
                <a:latin typeface="Segoe UI"/>
              </a:rP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7150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E334F"/>
                </a:solidFill>
                <a:latin typeface="Segoe UI"/>
              </a:rPr>
              <a:t>4 – Video consult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9436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Daily.co room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4663440"/>
            <a:ext cx="3383280" cy="1554480"/>
          </a:xfrm>
          <a:prstGeom prst="roundRect">
            <a:avLst>
              <a:gd name="adj" fmla="val 6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15200" y="466344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ED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0" y="4937759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4B5864"/>
                </a:solidFill>
                <a:latin typeface="Segoe UI"/>
              </a:rPr>
              <a:t>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7150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E334F"/>
                </a:solidFill>
                <a:latin typeface="Segoe UI"/>
              </a:rPr>
              <a:t>5 – Reviews &amp; refunds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9436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Post-consultation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626364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B5864"/>
                </a:solidFill>
                <a:latin typeface="Segoe UI"/>
              </a:rPr>
              <a:t>Replace frames with screenshots or a short screen recording.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CaseJeeto  •  Full-Stack Legal Marketplace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11475720" y="6510528"/>
            <a:ext cx="228600" cy="228600"/>
          </a:xfrm>
          <a:prstGeom prst="ellipse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6FBFB"/>
                </a:solidFill>
                <a:latin typeface="Segoe UI"/>
              </a:rPr>
              <a:t>DEEP DIVE 1 •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9FC"/>
                </a:solidFill>
                <a:latin typeface="Segoe UI"/>
              </a:rPr>
              <a:t>Authentication that resists replay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545775" cy="18288"/>
          </a:xfrm>
          <a:prstGeom prst="rect">
            <a:avLst/>
          </a:prstGeom>
          <a:solidFill>
            <a:srgbClr val="3C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2514600" cy="2377440"/>
          </a:xfrm>
          <a:prstGeom prst="roundRect">
            <a:avLst>
              <a:gd name="adj" fmla="val 5000"/>
            </a:avLst>
          </a:prstGeom>
          <a:solidFill>
            <a:srgbClr val="183F5B"/>
          </a:solidFill>
          <a:ln w="12700">
            <a:solidFill>
              <a:srgbClr val="2A52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3000" y="2606040"/>
            <a:ext cx="1005840" cy="64008"/>
          </a:xfrm>
          <a:prstGeom prst="rect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788920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9FC"/>
                </a:solidFill>
                <a:latin typeface="Segoe UI"/>
              </a:rPr>
              <a:t>Refresh tokens as SHA-256 hashes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03320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BFD4E2"/>
                </a:solidFill>
                <a:latin typeface="Segoe UI"/>
              </a:rPr>
              <a:t>Stored hashed, not raw — avoids bcrypt's 72-byte collision flaw.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2286000"/>
            <a:ext cx="2514600" cy="2377440"/>
          </a:xfrm>
          <a:prstGeom prst="roundRect">
            <a:avLst>
              <a:gd name="adj" fmla="val 5000"/>
            </a:avLst>
          </a:prstGeom>
          <a:solidFill>
            <a:srgbClr val="183F5B"/>
          </a:solidFill>
          <a:ln w="12700">
            <a:solidFill>
              <a:srgbClr val="2A52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58768" y="2606040"/>
            <a:ext cx="1005840" cy="64008"/>
          </a:xfrm>
          <a:prstGeom prst="rect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58768" y="2788920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9FC"/>
                </a:solidFill>
                <a:latin typeface="Segoe UI"/>
              </a:rPr>
              <a:t>Atomic rotation (CAS)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03320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BFD4E2"/>
                </a:solidFill>
                <a:latin typeface="Segoe UI"/>
              </a:rPr>
              <a:t>Two simultaneous refreshes — only one wins. Replay-safe.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2286000"/>
            <a:ext cx="2514600" cy="2377440"/>
          </a:xfrm>
          <a:prstGeom prst="roundRect">
            <a:avLst>
              <a:gd name="adj" fmla="val 5000"/>
            </a:avLst>
          </a:prstGeom>
          <a:solidFill>
            <a:srgbClr val="183F5B"/>
          </a:solidFill>
          <a:ln w="12700">
            <a:solidFill>
              <a:srgbClr val="2A52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74536" y="2606040"/>
            <a:ext cx="1005840" cy="64008"/>
          </a:xfrm>
          <a:prstGeom prst="rect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74536" y="2788920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9FC"/>
                </a:solidFill>
                <a:latin typeface="Segoe UI"/>
              </a:rPr>
              <a:t>Up to 10 sessions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3703320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BFD4E2"/>
                </a:solidFill>
                <a:latin typeface="Segoe UI"/>
              </a:rPr>
              <a:t>Multi-device login with atomic eviction of the oldest.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0264" y="2286000"/>
            <a:ext cx="2514600" cy="2377440"/>
          </a:xfrm>
          <a:prstGeom prst="roundRect">
            <a:avLst>
              <a:gd name="adj" fmla="val 5000"/>
            </a:avLst>
          </a:prstGeom>
          <a:solidFill>
            <a:srgbClr val="183F5B"/>
          </a:solidFill>
          <a:ln w="12700">
            <a:solidFill>
              <a:srgbClr val="2A52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90304" y="2606040"/>
            <a:ext cx="1005840" cy="64008"/>
          </a:xfrm>
          <a:prstGeom prst="rect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0304" y="2788920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9FC"/>
                </a:solidFill>
                <a:latin typeface="Segoe UI"/>
              </a:rPr>
              <a:t>Role-based middleware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3703320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BFD4E2"/>
                </a:solidFill>
                <a:latin typeface="Segoe UI"/>
              </a:rPr>
              <a:t>client / lawyer / admin route guards on every endpoint.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BFB"/>
                </a:solidFill>
                <a:latin typeface="Segoe UI"/>
              </a:rPr>
              <a:t>401-refresh-and-retry is centralized in one HTTP layer on the client — ui never sees a token.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EC6D8"/>
                </a:solidFill>
                <a:latin typeface="Segoe UI"/>
              </a:rPr>
              <a:t>CaseJeeto  •  Full-Stack Legal Marketplace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EC6D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615D"/>
                </a:solidFill>
                <a:latin typeface="Segoe UI"/>
              </a:rPr>
              <a:t>DEEP DIVE 2 • PAYMENTS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E334F"/>
                </a:solidFill>
                <a:latin typeface="Segoe UI"/>
              </a:rPr>
              <a:t>Money handled correctly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545775" cy="18288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2514600" cy="274320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2514600" cy="548640"/>
          </a:xfrm>
          <a:prstGeom prst="roundRect">
            <a:avLst>
              <a:gd name="adj" fmla="val 5000"/>
            </a:avLst>
          </a:prstGeom>
          <a:solidFill>
            <a:srgbClr val="1E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0428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9FC"/>
                </a:solidFill>
                <a:latin typeface="Segoe UI"/>
              </a:rPr>
              <a:t>1. 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20116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9242E"/>
                </a:solidFill>
                <a:latin typeface="Segoe UI"/>
              </a:rPr>
              <a:t>Server creates a Razorpay order for the booking fee.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33832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615D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8" y="2194560"/>
            <a:ext cx="2514600" cy="274320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38728" y="2194560"/>
            <a:ext cx="2514600" cy="548640"/>
          </a:xfrm>
          <a:prstGeom prst="roundRect">
            <a:avLst>
              <a:gd name="adj" fmla="val 5000"/>
            </a:avLst>
          </a:prstGeom>
          <a:solidFill>
            <a:srgbClr val="A87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13048" y="230428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9FC"/>
                </a:solidFill>
                <a:latin typeface="Segoe UI"/>
              </a:rPr>
              <a:t>2. Pay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2971800"/>
            <a:ext cx="20116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9242E"/>
                </a:solidFill>
                <a:latin typeface="Segoe UI"/>
              </a:rPr>
              <a:t>Client pays in the Razorpay checkout.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33832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615D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2194560"/>
            <a:ext cx="2514600" cy="274320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54496" y="2194560"/>
            <a:ext cx="2514600" cy="548640"/>
          </a:xfrm>
          <a:prstGeom prst="roundRect">
            <a:avLst>
              <a:gd name="adj" fmla="val 5000"/>
            </a:avLst>
          </a:prstGeom>
          <a:solidFill>
            <a:srgbClr val="A6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28816" y="230428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9FC"/>
                </a:solidFill>
                <a:latin typeface="Segoe UI"/>
              </a:rPr>
              <a:t>3. 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2971800"/>
            <a:ext cx="20116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9242E"/>
                </a:solidFill>
                <a:latin typeface="Segoe UI"/>
              </a:rPr>
              <a:t>HMAC signature check on the client.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4816" y="33832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615D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0264" y="2194560"/>
            <a:ext cx="2514600" cy="274320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970264" y="2194560"/>
            <a:ext cx="2514600" cy="548640"/>
          </a:xfrm>
          <a:prstGeom prst="roundRect">
            <a:avLst>
              <a:gd name="adj" fmla="val 5000"/>
            </a:avLst>
          </a:prstGeom>
          <a:solidFill>
            <a:srgbClr val="3C7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44584" y="230428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9FC"/>
                </a:solidFill>
                <a:latin typeface="Segoe UI"/>
              </a:rPr>
              <a:t>4. Settle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2971800"/>
            <a:ext cx="20116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9242E"/>
                </a:solidFill>
                <a:latin typeface="Segoe UI"/>
              </a:rPr>
              <a:t>Webhook = source of truth; 85% lawyer / 15% platform.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21208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ED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534924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615D"/>
                </a:solidFill>
                <a:latin typeface="Segoe UI"/>
              </a:rPr>
              <a:t>Paise, not rupees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6692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9242E"/>
                </a:solidFill>
                <a:latin typeface="Segoe UI"/>
              </a:rPr>
              <a:t>Integers avoid floating-point error; toJSON auto-exposes rupees.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521208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ED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09160" y="534924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76941"/>
                </a:solidFill>
                <a:latin typeface="Segoe UI"/>
              </a:rPr>
              <a:t>Safe partial refunds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56692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9242E"/>
                </a:solidFill>
                <a:latin typeface="Segoe UI"/>
              </a:rPr>
              <a:t>Integer paise, capped at the remaining balance, admin-approved.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521208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ED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0" y="534924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F60"/>
                </a:solidFill>
                <a:latin typeface="Segoe UI"/>
              </a:rPr>
              <a:t>Atomic writes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6692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9242E"/>
                </a:solidFill>
                <a:latin typeface="Segoe UI"/>
              </a:rPr>
              <a:t>Booking + payment committed in one MongoDB transaction.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CaseJeeto  •  Full-Stack Legal Marketplace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9</a:t>
            </a:r>
          </a:p>
        </p:txBody>
      </p:sp>
      <p:sp>
        <p:nvSpPr>
          <p:cNvPr id="36" name="Oval 35"/>
          <p:cNvSpPr/>
          <p:nvPr/>
        </p:nvSpPr>
        <p:spPr>
          <a:xfrm>
            <a:off x="11475720" y="6510528"/>
            <a:ext cx="228600" cy="228600"/>
          </a:xfrm>
          <a:prstGeom prst="ellipse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615D"/>
                </a:solidFill>
                <a:latin typeface="Segoe UI"/>
              </a:rPr>
              <a:t>DEEP DIVE 3 • REAL-TIME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E334F"/>
                </a:solidFill>
                <a:latin typeface="Segoe UI"/>
              </a:rPr>
              <a:t>Video calls you can't exceed; chat that verifies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67345"/>
            <a:ext cx="10545775" cy="18288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E334F"/>
                </a:solidFill>
                <a:latin typeface="Segoe UI"/>
              </a:rPr>
              <a:t>Daily.co video — time enforced twice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971800"/>
            <a:ext cx="128016" cy="365760"/>
          </a:xfrm>
          <a:prstGeom prst="rect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297180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9242E"/>
                </a:solidFill>
                <a:latin typeface="Segoe UI"/>
              </a:rPr>
              <a:t>Room expiry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22783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B5864"/>
                </a:solidFill>
                <a:latin typeface="Segoe UI"/>
              </a:rPr>
              <a:t>eject_at_room_exp evicts at 15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3630168"/>
            <a:ext cx="128016" cy="365760"/>
          </a:xfrm>
          <a:prstGeom prst="rect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363016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9242E"/>
                </a:solidFill>
                <a:latin typeface="Segoe UI"/>
              </a:rPr>
              <a:t>Token expiry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8862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B5864"/>
                </a:solidFill>
                <a:latin typeface="Segoe UI"/>
              </a:rPr>
              <a:t>meeting token dies independently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4288536"/>
            <a:ext cx="128016" cy="365760"/>
          </a:xfrm>
          <a:prstGeom prst="rect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4288536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9242E"/>
                </a:solidFill>
                <a:latin typeface="Segoe UI"/>
              </a:rPr>
              <a:t>Buffer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54456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B5864"/>
                </a:solidFill>
                <a:latin typeface="Segoe UI"/>
              </a:rPr>
              <a:t>30s clock-skew absorb • 15-min early join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89204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615D"/>
                </a:solidFill>
                <a:latin typeface="Segoe UI"/>
              </a:rPr>
              <a:t>If one mechanism is misconfigured, the other still cuts the call.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19456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242316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E334F"/>
                </a:solidFill>
                <a:latin typeface="Segoe UI"/>
              </a:rPr>
              <a:t>Socket.IO chat — gated &amp; persisted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971800"/>
            <a:ext cx="128016" cy="365760"/>
          </a:xfrm>
          <a:prstGeom prst="rect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0" y="297180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9242E"/>
                </a:solidFill>
                <a:latin typeface="Segoe UI"/>
              </a:rPr>
              <a:t>JWT handshake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22783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B5864"/>
                </a:solidFill>
                <a:latin typeface="Segoe UI"/>
              </a:rPr>
              <a:t>socket id authorized before joining a room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3630168"/>
            <a:ext cx="128016" cy="365760"/>
          </a:xfrm>
          <a:prstGeom prst="rect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9440" y="363016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9242E"/>
                </a:solidFill>
                <a:latin typeface="Segoe UI"/>
              </a:rPr>
              <a:t>Real reads &amp; typing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862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B5864"/>
                </a:solidFill>
                <a:latin typeface="Segoe UI"/>
              </a:rPr>
              <a:t>readBy[] receipt + 250ms-throttled typing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288536"/>
            <a:ext cx="128016" cy="365760"/>
          </a:xfrm>
          <a:prstGeom prst="rect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49440" y="4288536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9242E"/>
                </a:solidFill>
                <a:latin typeface="Segoe UI"/>
              </a:rPr>
              <a:t>Persisted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54456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B5864"/>
                </a:solidFill>
                <a:latin typeface="Segoe UI"/>
              </a:rPr>
              <a:t>messages stored, inbox on both sides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89204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615D"/>
                </a:solidFill>
                <a:latin typeface="Segoe UI"/>
              </a:rPr>
              <a:t>Membership is verified server-side for every event.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CaseJeeto  •  Full-Stack Legal Marketplace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10</a:t>
            </a:r>
          </a:p>
        </p:txBody>
      </p:sp>
      <p:sp>
        <p:nvSpPr>
          <p:cNvPr id="32" name="Oval 31"/>
          <p:cNvSpPr/>
          <p:nvPr/>
        </p:nvSpPr>
        <p:spPr>
          <a:xfrm>
            <a:off x="11475720" y="6510528"/>
            <a:ext cx="228600" cy="228600"/>
          </a:xfrm>
          <a:prstGeom prst="ellipse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615D"/>
                </a:solidFill>
                <a:latin typeface="Segoe UI"/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E334F"/>
                </a:solidFill>
                <a:latin typeface="Segoe UI"/>
              </a:rPr>
              <a:t>Verified logic, not just compiled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545775" cy="18288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46888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0615D"/>
                </a:solidFill>
                <a:latin typeface="Segoe UI"/>
              </a:rPr>
              <a:t>25+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4290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9242E"/>
                </a:solidFill>
                <a:latin typeface="Segoe UI"/>
              </a:rPr>
              <a:t>backend regression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9456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246888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76941"/>
                </a:solidFill>
                <a:latin typeface="Segoe UI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4290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9242E"/>
                </a:solidFill>
                <a:latin typeface="Segoe UI"/>
              </a:rPr>
              <a:t>frontend contract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9456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246888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E3F60"/>
                </a:solidFill>
                <a:latin typeface="Segoe U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4290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9242E"/>
                </a:solidFill>
                <a:latin typeface="Segoe UI"/>
              </a:rPr>
              <a:t>live DB required — fully mocked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43400"/>
            <a:ext cx="3383280" cy="1051560"/>
          </a:xfrm>
          <a:prstGeom prst="roundRect">
            <a:avLst>
              <a:gd name="adj" fmla="val 8000"/>
            </a:avLst>
          </a:prstGeom>
          <a:solidFill>
            <a:srgbClr val="ED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49884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E334F"/>
                </a:solidFill>
                <a:latin typeface="Segoe UI"/>
              </a:rPr>
              <a:t>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2803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B5864"/>
                </a:solidFill>
                <a:latin typeface="Segoe UI"/>
              </a:rPr>
              <a:t>token replay race, session CAS, logout isolation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4343400"/>
            <a:ext cx="3383280" cy="1051560"/>
          </a:xfrm>
          <a:prstGeom prst="roundRect">
            <a:avLst>
              <a:gd name="adj" fmla="val 8000"/>
            </a:avLst>
          </a:prstGeom>
          <a:solidFill>
            <a:srgbClr val="ED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9160" y="449884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E334F"/>
                </a:solidFill>
                <a:latin typeface="Segoe UI"/>
              </a:rPr>
              <a:t>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82803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B5864"/>
                </a:solidFill>
                <a:latin typeface="Segoe UI"/>
              </a:rPr>
              <a:t>Razorpay signature, webhook 5xx retryability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343400"/>
            <a:ext cx="3383280" cy="1051560"/>
          </a:xfrm>
          <a:prstGeom prst="roundRect">
            <a:avLst>
              <a:gd name="adj" fmla="val 8000"/>
            </a:avLst>
          </a:prstGeom>
          <a:solidFill>
            <a:srgbClr val="ED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449884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E334F"/>
                </a:solidFill>
                <a:latin typeface="Segoe UI"/>
              </a:rPr>
              <a:t>Refunds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82803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B5864"/>
                </a:solidFill>
                <a:latin typeface="Segoe UI"/>
              </a:rPr>
              <a:t>integer paise, balance-capped amounts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658600" y="4343400"/>
            <a:ext cx="3383280" cy="1051560"/>
          </a:xfrm>
          <a:prstGeom prst="roundRect">
            <a:avLst>
              <a:gd name="adj" fmla="val 8000"/>
            </a:avLst>
          </a:prstGeom>
          <a:solidFill>
            <a:srgbClr val="ED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932920" y="449884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E334F"/>
                </a:solidFill>
                <a:latin typeface="Segoe UI"/>
              </a:rPr>
              <a:t>Rankings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32920" y="482803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B5864"/>
                </a:solidFill>
                <a:latin typeface="Segoe UI"/>
              </a:rPr>
              <a:t>only approved, visible lawyers ranked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B5864"/>
                </a:solidFill>
                <a:latin typeface="Segoe UI"/>
              </a:rPr>
              <a:t>Node's built-in test runner + mocked models on both packages — deterministic, portable, fast.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CaseJeeto  •  Full-Stack Legal Marketplace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11</a:t>
            </a:r>
          </a:p>
        </p:txBody>
      </p:sp>
      <p:sp>
        <p:nvSpPr>
          <p:cNvPr id="30" name="Oval 29"/>
          <p:cNvSpPr/>
          <p:nvPr/>
        </p:nvSpPr>
        <p:spPr>
          <a:xfrm>
            <a:off x="11475720" y="6510528"/>
            <a:ext cx="228600" cy="228600"/>
          </a:xfrm>
          <a:prstGeom prst="ellipse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615D"/>
                </a:solidFill>
                <a:latin typeface="Segoe UI"/>
              </a:rPr>
              <a:t>THE REAL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E334F"/>
                </a:solidFill>
                <a:latin typeface="Segoe UI"/>
              </a:rPr>
              <a:t>What one month of building taught me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545775" cy="18288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2011680" cy="301752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51560" y="2542032"/>
            <a:ext cx="1554480" cy="64008"/>
          </a:xfrm>
          <a:prstGeom prst="rect">
            <a:avLst/>
          </a:prstGeom>
          <a:solidFill>
            <a:srgbClr val="1E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1600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334F"/>
                </a:solidFill>
                <a:latin typeface="Segoe UI"/>
              </a:rPr>
              <a:t>Architecture thinking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977639"/>
            <a:ext cx="1600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B5864"/>
                </a:solidFill>
                <a:latin typeface="Segoe UI"/>
              </a:rPr>
              <a:t>Routes • controllers • models • services • middleware — where each concern lives.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35808" y="2240280"/>
            <a:ext cx="2011680" cy="301752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64408" y="2542032"/>
            <a:ext cx="1554480" cy="64008"/>
          </a:xfrm>
          <a:prstGeom prst="rect">
            <a:avLst/>
          </a:prstGeom>
          <a:solidFill>
            <a:srgbClr val="A87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64408" y="2788920"/>
            <a:ext cx="1600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334F"/>
                </a:solidFill>
                <a:latin typeface="Segoe UI"/>
              </a:rPr>
              <a:t>Security by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3977639"/>
            <a:ext cx="1600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B5864"/>
                </a:solidFill>
                <a:latin typeface="Segoe UI"/>
              </a:rPr>
              <a:t>Token lifecycle, hashing, RBAC — not bolted on, but designed 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48656" y="2240280"/>
            <a:ext cx="2011680" cy="301752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77256" y="2542032"/>
            <a:ext cx="1554480" cy="64008"/>
          </a:xfrm>
          <a:prstGeom prst="rect">
            <a:avLst/>
          </a:prstGeom>
          <a:solidFill>
            <a:srgbClr val="537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77256" y="2788920"/>
            <a:ext cx="1600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334F"/>
                </a:solidFill>
                <a:latin typeface="Segoe UI"/>
              </a:rPr>
              <a:t>Real-time &amp;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7256" y="3977639"/>
            <a:ext cx="1600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B5864"/>
                </a:solidFill>
                <a:latin typeface="Segoe UI"/>
              </a:rPr>
              <a:t>WebSocket vs REST trade-offs; rooms, receipts, throttling.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61504" y="2240280"/>
            <a:ext cx="2011680" cy="301752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90104" y="2542032"/>
            <a:ext cx="1554480" cy="64008"/>
          </a:xfrm>
          <a:prstGeom prst="rect">
            <a:avLst/>
          </a:prstGeom>
          <a:solidFill>
            <a:srgbClr val="A6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90104" y="2788920"/>
            <a:ext cx="1600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334F"/>
                </a:solidFill>
                <a:latin typeface="Segoe UI"/>
              </a:rPr>
              <a:t>Reading vendor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0104" y="3977639"/>
            <a:ext cx="1600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B5864"/>
                </a:solidFill>
                <a:latin typeface="Segoe UI"/>
              </a:rPr>
              <a:t>Razorpay, Daily.co, Cloudinary — integrating real third-party APIs.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74352" y="2240280"/>
            <a:ext cx="2011680" cy="301752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902952" y="2542032"/>
            <a:ext cx="1554480" cy="64008"/>
          </a:xfrm>
          <a:prstGeom prst="rect">
            <a:avLst/>
          </a:prstGeom>
          <a:solidFill>
            <a:srgbClr val="3C7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02952" y="2788920"/>
            <a:ext cx="1600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334F"/>
                </a:solidFill>
                <a:latin typeface="Segoe UI"/>
              </a:rPr>
              <a:t>Testing discipline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2952" y="3977639"/>
            <a:ext cx="1600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B5864"/>
                </a:solidFill>
                <a:latin typeface="Segoe UI"/>
              </a:rPr>
              <a:t>Pre-commit gates: npm test • typecheck • lint • build.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E334F"/>
                </a:solidFill>
                <a:latin typeface="Segoe UI"/>
              </a:rPr>
              <a:t>A real product is not one feature — it's discovery, trust, payments, real-time and security working together.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CaseJeeto  •  Full-Stack Legal Marketplace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864"/>
                </a:solidFill>
                <a:latin typeface="Segoe UI"/>
              </a:rPr>
              <a:t>12</a:t>
            </a:r>
          </a:p>
        </p:txBody>
      </p:sp>
      <p:sp>
        <p:nvSpPr>
          <p:cNvPr id="29" name="Oval 28"/>
          <p:cNvSpPr/>
          <p:nvPr/>
        </p:nvSpPr>
        <p:spPr>
          <a:xfrm>
            <a:off x="11475720" y="6510528"/>
            <a:ext cx="228600" cy="228600"/>
          </a:xfrm>
          <a:prstGeom prst="ellipse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6FBFB"/>
                </a:solidFill>
                <a:latin typeface="Segoe UI"/>
              </a:rPr>
              <a:t>HONESTY +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9FC"/>
                </a:solidFill>
                <a:latin typeface="Segoe UI"/>
              </a:rPr>
              <a:t>Where it stands &amp; where it goes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545775" cy="18288"/>
          </a:xfrm>
          <a:prstGeom prst="rect">
            <a:avLst/>
          </a:prstGeom>
          <a:solidFill>
            <a:srgbClr val="3C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502920"/>
          </a:xfrm>
          <a:prstGeom prst="roundRect">
            <a:avLst>
              <a:gd name="adj" fmla="val 12000"/>
            </a:avLst>
          </a:prstGeom>
          <a:solidFill>
            <a:srgbClr val="1E4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212848"/>
            <a:ext cx="45720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dirty="0">
                <a:solidFill>
                  <a:srgbClr val="D8E4EE"/>
                </a:solidFill>
                <a:latin typeface="Segoe UI"/>
              </a:rPr>
              <a:t>TODAY 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183F5B"/>
          </a:solidFill>
          <a:ln w="9525">
            <a:solidFill>
              <a:srgbClr val="2A52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dirty="0">
                <a:solidFill>
                  <a:srgbClr val="F5F9FC"/>
                </a:solidFill>
                <a:latin typeface="Segoe UI"/>
              </a:rPr>
              <a:t>•  Local dev only — not deployed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584448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183F5B"/>
          </a:solidFill>
          <a:ln w="9525">
            <a:solidFill>
              <a:srgbClr val="2A52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76732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F5F9FC"/>
                </a:solidFill>
                <a:latin typeface="Segoe UI"/>
              </a:rPr>
              <a:t>•  End-to-end booking→video not yet certified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425696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183F5B"/>
          </a:solidFill>
          <a:ln w="9525">
            <a:solidFill>
              <a:srgbClr val="2A52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60857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dirty="0">
                <a:solidFill>
                  <a:srgbClr val="F5F9FC"/>
                </a:solidFill>
                <a:latin typeface="Segoe UI"/>
              </a:rPr>
              <a:t>•  Tokens in </a:t>
            </a:r>
            <a:r>
              <a:rPr sz="1350" b="0" dirty="0" err="1">
                <a:solidFill>
                  <a:srgbClr val="F5F9FC"/>
                </a:solidFill>
                <a:latin typeface="Segoe UI"/>
              </a:rPr>
              <a:t>localStorage</a:t>
            </a:r>
            <a:r>
              <a:rPr sz="1350" b="0" dirty="0">
                <a:solidFill>
                  <a:srgbClr val="F5F9FC"/>
                </a:solidFill>
                <a:latin typeface="Segoe UI"/>
              </a:rPr>
              <a:t> today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103120"/>
            <a:ext cx="5029200" cy="502920"/>
          </a:xfrm>
          <a:prstGeom prst="roundRect">
            <a:avLst>
              <a:gd name="adj" fmla="val 12000"/>
            </a:avLst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2212848"/>
            <a:ext cx="45720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dirty="0">
                <a:solidFill>
                  <a:srgbClr val="F6FBFB"/>
                </a:solidFill>
                <a:latin typeface="Segoe UI"/>
              </a:rPr>
              <a:t>NEXT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74320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4A46"/>
          </a:solidFill>
          <a:ln w="9525">
            <a:solidFill>
              <a:srgbClr val="0F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926080"/>
            <a:ext cx="45720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dirty="0">
                <a:solidFill>
                  <a:srgbClr val="F6FBFB"/>
                </a:solidFill>
                <a:latin typeface="Segoe UI"/>
              </a:rPr>
              <a:t>•  Deploy API (Render) + client (</a:t>
            </a:r>
            <a:r>
              <a:rPr sz="1350" b="0" dirty="0" err="1">
                <a:solidFill>
                  <a:srgbClr val="F6FBFB"/>
                </a:solidFill>
                <a:latin typeface="Segoe UI"/>
              </a:rPr>
              <a:t>Vercel</a:t>
            </a:r>
            <a:r>
              <a:rPr sz="1350" b="0" dirty="0">
                <a:solidFill>
                  <a:srgbClr val="F6FBFB"/>
                </a:solidFill>
                <a:latin typeface="Segoe UI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584448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4A46"/>
          </a:solidFill>
          <a:ln w="9525">
            <a:solidFill>
              <a:srgbClr val="0F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376732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F6FBFB"/>
                </a:solidFill>
                <a:latin typeface="Segoe UI"/>
              </a:rPr>
              <a:t>•  Move refresh tokens to HttpOnly cookies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425696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4A46"/>
          </a:solidFill>
          <a:ln w="9525">
            <a:solidFill>
              <a:srgbClr val="0F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460857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F6FBFB"/>
                </a:solidFill>
                <a:latin typeface="Segoe UI"/>
              </a:rPr>
              <a:t>•  Certify booking→payment→video end to 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6FBFB"/>
                </a:solidFill>
                <a:latin typeface="Segoe UI"/>
              </a:rPr>
              <a:t>Honest limits + a clear roadmap = trust in the engineer, not just the demo.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EC6D8"/>
                </a:solidFill>
                <a:latin typeface="Segoe UI"/>
              </a:rPr>
              <a:t>CaseJeeto  •  Full-Stack Legal Marketplace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EC6D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E3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4937760"/>
            <a:ext cx="3108960" cy="3108960"/>
          </a:xfrm>
          <a:prstGeom prst="ellipse">
            <a:avLst/>
          </a:prstGeom>
          <a:noFill/>
          <a:ln w="254000">
            <a:solidFill>
              <a:srgbClr val="23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778240" y="4389120"/>
            <a:ext cx="4206240" cy="4206240"/>
          </a:xfrm>
          <a:prstGeom prst="ellipse">
            <a:avLst/>
          </a:prstGeom>
          <a:noFill/>
          <a:ln w="254000">
            <a:solidFill>
              <a:srgbClr val="2A52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840921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dirty="0">
                <a:solidFill>
                  <a:srgbClr val="F5F9FC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895" y="1263542"/>
            <a:ext cx="10058400" cy="12618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00" i="1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product isn’t one feature — it’s discovery, trust, payments, real-time communication, and security all working together.</a:t>
            </a:r>
            <a:endParaRPr lang="en-US" sz="2800" dirty="0"/>
          </a:p>
          <a:p>
            <a:pPr algn="l">
              <a:lnSpc>
                <a:spcPct val="100000"/>
              </a:lnSpc>
            </a:pPr>
            <a:endParaRPr sz="2600" b="0" dirty="0">
              <a:solidFill>
                <a:srgbClr val="BFD4E2"/>
              </a:solidFill>
              <a:latin typeface="Segoe UI"/>
            </a:endParaRPr>
          </a:p>
        </p:txBody>
      </p:sp>
      <p:sp>
        <p:nvSpPr>
          <p:cNvPr id="7" name="Oval 6"/>
          <p:cNvSpPr/>
          <p:nvPr/>
        </p:nvSpPr>
        <p:spPr>
          <a:xfrm>
            <a:off x="914400" y="4297680"/>
            <a:ext cx="292608" cy="292608"/>
          </a:xfrm>
          <a:prstGeom prst="ellipse">
            <a:avLst/>
          </a:prstGeom>
          <a:solidFill>
            <a:srgbClr val="00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9264" y="429768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F6FBFB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27939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dirty="0">
                <a:solidFill>
                  <a:srgbClr val="F6FBFB"/>
                </a:solidFill>
                <a:latin typeface="Segoe UI"/>
              </a:rPr>
              <a:t>Built, tested and understood in one month — </a:t>
            </a:r>
            <a:r>
              <a:rPr sz="1500" b="0" dirty="0" err="1">
                <a:solidFill>
                  <a:srgbClr val="F6FBFB"/>
                </a:solidFill>
                <a:latin typeface="Segoe UI"/>
              </a:rPr>
              <a:t>CaseJeeto</a:t>
            </a:r>
            <a:endParaRPr sz="1500" b="0" dirty="0">
              <a:solidFill>
                <a:srgbClr val="F6FBFB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058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BFD4E2"/>
                </a:solidFill>
                <a:latin typeface="Segoe UI"/>
              </a:rPr>
              <a:t>Jyoti Tiwari  •  06811502823  •  Bharati Vidyapeeth College of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1747</Words>
  <Application>Microsoft Office PowerPoint</Application>
  <PresentationFormat>Widescreen</PresentationFormat>
  <Paragraphs>287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Jyoti Tiwari</cp:lastModifiedBy>
  <cp:revision>1</cp:revision>
  <dcterms:created xsi:type="dcterms:W3CDTF">2013-01-27T09:14:16Z</dcterms:created>
  <dcterms:modified xsi:type="dcterms:W3CDTF">2026-09-01T12:36:27Z</dcterms:modified>
  <cp:category/>
</cp:coreProperties>
</file>